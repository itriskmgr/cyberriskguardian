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CRG as decision support: it accelerates and structures the analysis; the analyst and management remain accountable.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what can management do with the word "ransomware"? Contrast with a scenario that names an asset and a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stages. Mention that the desktop app shows them as thirteen process steps with a status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identify each link in the example. Then ask them to rewrite "data breach" as a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two probabilities: presence and exploitation. Merging them double-counts. θ is demonstrated capability, not tools owned.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 only scales; it never changes a ratio. Emphasize that the results are relative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published MediBec values. Let students recompute Re on paper: 0.85 × 0.55 × 9.3 × 0.70 × 0.85 ÷ 0.40 × 1000 ≈ 6,467.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surprising result. Pre-treatment ratio = average damage ÷ appetite = 0.70 ÷ 0.30 = 2.33 for 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control in your plan would interrupt which step of the chain? Warn about control dumping.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where the markers appear in the MediBec deliverables. The Claude plugin flags missing markers.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UI from Active to None: the score rises from 9.3 to 9.9. Discuss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course AI policy: allowed on assignments with acknowledgement, not during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track used in this course and where to get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 11 and 12 are optional or end-of-term, depending on the integration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A1 feeds A2 and A3: one organization, from risk to governance to assurance.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0 starts now: everyone verifies the engine and sends a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CyberRiskGuardian Education Package 1.0 · CC BY-NC 4.0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CyberRiskGuardian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cybersecurity risk with CyberRiskGuardian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introductory class · Education Package 1.0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Marc-André Léger, PhD ·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scenario-driven risk assessment?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decides with money, time and people — not with threat names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links a threat to a business consequence, so it can be estimated, treated and owned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makes trade-offs explicit: which risks exceed what the organization will tolerate?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2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CyberRiskGuardian structures and speeds up the work; people stay accountable for estimates and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jewels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130552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2130552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30552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7872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58184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758184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candidates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scenarios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58184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75504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385816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5385816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parameters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CVSS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85816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013448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013448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 risk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13448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30768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641080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4108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0" y="278892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0268712" y="23774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12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268712" y="237744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Memo, budget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KRIs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68712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is a causal chain, not a threat name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194560" cy="914400"/>
          </a:xfrm>
          <a:prstGeom prst="chevron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16352" y="1554480"/>
            <a:ext cx="2194560" cy="914400"/>
          </a:xfrm>
          <a:prstGeom prst="chevron">
            <a:avLst/>
          </a:prstGeom>
          <a:solidFill>
            <a:srgbClr val="1F5A80"/>
          </a:solidFill>
          <a:ln/>
        </p:spPr>
      </p:sp>
      <p:sp>
        <p:nvSpPr>
          <p:cNvPr id="6" name="Text 4"/>
          <p:cNvSpPr/>
          <p:nvPr/>
        </p:nvSpPr>
        <p:spPr>
          <a:xfrm>
            <a:off x="3044952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84064" y="1554480"/>
            <a:ext cx="2194560" cy="914400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5312664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process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51776" y="1554480"/>
            <a:ext cx="2194560" cy="914400"/>
          </a:xfrm>
          <a:prstGeom prst="chevron">
            <a:avLst/>
          </a:prstGeom>
          <a:solidFill>
            <a:srgbClr val="2D8E8C"/>
          </a:solidFill>
          <a:ln/>
        </p:spPr>
      </p:sp>
      <p:sp>
        <p:nvSpPr>
          <p:cNvPr id="10" name="Text 8"/>
          <p:cNvSpPr/>
          <p:nvPr/>
        </p:nvSpPr>
        <p:spPr>
          <a:xfrm>
            <a:off x="7580376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19488" y="1554480"/>
            <a:ext cx="2194560" cy="914400"/>
          </a:xfrm>
          <a:prstGeom prst="chevron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9848088" y="15544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“Ransomware” is a threat.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789920" cy="21031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4904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ransomware affiliate uses stolen VPN credentials and the absence of MFA on remote access to encrypt the clinical scheduling servers, stopping appointments at all sites for several days.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parameters, each from 0 to 1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6675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presence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the threat act in the next 12 months?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Pb(ψ,A)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acts, will it get through this weakness?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damage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 reasonably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damage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 plausible at worst (δm ≥ δe)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Prevent, detect, contain, respond, recover (higher is better; never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μ(E)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of the affected service to the mission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 risk  Re = Pb(A) × Pb(ψ,A) × CVSS × ((δe + δm) / 2) × μ(E) ÷ θ × Factor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Tolerated risk  Rt = Pb(A) × Pb(ψ,A) × CVSS × Appetite × μ(E) ÷ θ × Factor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Mitigated = Re × Probability reduction × Impact reduction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 = Re − Mitigated          Ratio = Residual ÷ Tolerated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relative indicators for ranking and comparison — not dollars, not predictions.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MediBec S1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compromise of clinical administrators through phishing and MFA fatigue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Pb(ψ,A)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δe / δm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/ 0.85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μ(E)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v4.0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Appetite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78308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23A5C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7830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6,467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8503920" y="178308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23A5C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17830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2,772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394960" y="35204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23A5C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2,587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Residual*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8503920" y="352044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C77D12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*after a package with probability reduction 0.80 and impact reduction 0.75 → approximately at tolerance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ratio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0.90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tolerance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0" y="1463040"/>
            <a:ext cx="3474720" cy="128016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– 1.10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at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955280" y="1463040"/>
            <a:ext cx="3474720" cy="128016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1.10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tolerance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depends only on damage, treatment and appetite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÷ Tolerated = ((δe + δm) / 2) × (1 − P × Q) ÷ Appetite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Probabilities, CVSS, θ and μ(E) cancel: they set the size of the risk (ranking), not the verdict. Read the ratio together with estimated risk.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multiplicative, and counted once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probability reduction × 80% impact reduction removes 64% of the risk — not 80%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that reduces only probability, or only impact, mitigates nothing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tolerance requires P × Q ≥ 1 − Appetite ÷ average damage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control (e.g. MFA serving seven scenarios) is split for scenario analysis and counted once in the portfolio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the organization already has cannot be claimed again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markers on every deliverable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37160" cy="100584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estimate — validation required
</a:t>
            </a:r>
            <a:pPr indent="0" marL="0">
              <a:buNone/>
            </a:pPr>
            <a:r>
              <a:rPr lang="en-US" sz="16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you (or the AI) estimated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37160" cy="100584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gap — organizational validation required
</a:t>
            </a:r>
            <a:pPr indent="0" marL="0">
              <a:buNone/>
            </a:pPr>
            <a:r>
              <a:rPr lang="en-US" sz="16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 nobody has supplied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37160" cy="100584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319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decision required
</a:t>
            </a:r>
            <a:pPr indent="0" marL="0">
              <a:buNone/>
            </a:pPr>
            <a:r>
              <a:rPr lang="en-US" sz="16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only management can make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them well is the clearest sign that a student separates evidence, inference and judgement.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CVSS: what it does and does not measure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technical severity of one defined vulnerability (CVSS v4.0 Base, 0–10)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CRG as a multiplier — never as the risk itself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it with a calculator; keep the full vector string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20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phishing, insider, fraud or governance scenarios: score a representative weakness and label it “limited applicability”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MediBec S1 · CVSS:4.0/AV:N/AC:L/AT:N/PR:N/UI:A/VC:H/VI:H/VA:N/SC:H/SI:L/SA:L → 9.3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it proposes, the engine calculates, you decide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scenarios · propose values with rationales · critique estimates · suggest controls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not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case facts the case does not contain · produce final numbers · invent standards, laws, identifiers or sources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claim · recompute with the engine · protect data · acknowledge AI use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use CyberRiskGuardian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or project: context intake, 20→10 scenarios, /crg-quick-scan, verified calculator, label checks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in the browser: classroom workspaces, engine self-check, simulation data, EN/FR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model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Analyse, S1–S10, M1–M10 sheets: transparent formulas; press F9 to recalculate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 labs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Getting started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297680" y="137160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Context &amp; crown jewels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137160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1371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Risk appetite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Writing scenarios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Quantifying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955280" y="237744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CVSS v4.0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Calculating risk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97680" y="338328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Treatment &amp; residual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955280" y="338328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383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Sensitivity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KRIs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297680" y="4389120"/>
            <a:ext cx="3474720" cy="822960"/>
          </a:xfrm>
          <a:prstGeom prst="rect">
            <a:avLst/>
          </a:prstGeom>
          <a:solidFill>
            <a:srgbClr val="EEF3F7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389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Management memo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55280" y="4389120"/>
            <a:ext cx="3474720" cy="822960"/>
          </a:xfrm>
          <a:prstGeom prst="rect">
            <a:avLst/>
          </a:prstGeom>
          <a:solidFill>
            <a:srgbClr val="DCE6EE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389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Security operations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3474720" cy="822960"/>
          </a:xfrm>
          <a:prstGeom prst="rect">
            <a:avLst/>
          </a:prstGeom>
          <a:solidFill>
            <a:srgbClr val="DCE6EE"/>
          </a:solidFill>
          <a:ln w="9525">
            <a:solidFill>
              <a:srgbClr val="C8D2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94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Risk → policy &amp; audit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deliver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Risk assessment (team)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scenario S1 + nine more · workbook · 1-page memo · 2-page recommendation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IAM security policy (team)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testable, executive-ready policy anchored in your A1 results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Risk-based audit plan (individual)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3474720" cy="2743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3172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universe, risk ranking, engagement plan, control tests and CAATTs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your track, then verify the engine:</a:t>
            </a:r>
            <a:endParaRPr lang="en-US" sz="2100" dirty="0"/>
          </a:p>
          <a:p>
            <a:pPr lvl="1"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“engine verified · 84,491 / 41,104”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use MediBec — a fictional private medical centre with ten clinics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graded work uses a different case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2100" dirty="0">
                <a:solidFill>
                  <a:srgbClr val="1F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hypotheses to validate; risk decisions belong to management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5394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2026-10-21T10:56:14Z</dcterms:created>
  <dcterms:modified xsi:type="dcterms:W3CDTF">2026-10-21T10:56:14Z</dcterms:modified>
</cp:coreProperties>
</file>