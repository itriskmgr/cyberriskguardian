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CRG as decision support: it accelerates and structures the analysis; the analyst and management remain accountable.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class: what can management do with the word "ransomware"? Contrast with a scenario that names an asset and a consequence.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seven stages. Mention that the desktop app shows them as thirteen process steps with a status for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each link in the example. Then ask them to rewrite "data breach" as a chain.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the two probabilities: presence and exploitation. Merging them double-counts. θ is demonstrated capability, not tools owned.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factor only scales; it never changes a ratio. Emphasize that the results are relative indicators.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published MediBec values. Let students recompute Re on paper: 0.85 × 0.55 × 9.3 × 0.70 × 0.85 ÷ 0.40 × 1000 ≈ 6,467.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surprising result. Pre-treatment ratio = average damage ÷ appetite = 0.70 ÷ 0.30 = 2.33 for S1.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control in your plan would interrupt which step of the chain? Warn about control dumping.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where the markers appear in the MediBec deliverables. The Claude plugin flags missing markers.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Change UI from Active to None: the score rises from 9.3 to 9.9. Discuss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course AI policy: allowed on assignments with acknowledgement, not during the exam.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track used in this course and where to get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Labs 11 and 12 are optional or end-of-term, depending on the integration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how A1 feeds A2 and A3: one organization, from risk to governance to assurance.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0 starts now: everyone verifies the engine and sends a screenshot.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CyberRiskGuardian Education Package 1.0 · CC BY-NC 4.0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12188952" cy="73152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11887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CyberRiskGuardian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Assessing cybersecurity risk with CyberRiskGuardian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C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introductory class · Education Package 1.0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51206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Marc-André Léger, PhD · October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scenario-driven risk assessment?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22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decides with money, time and people — not with threat names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22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scenario links a threat to a business consequence, so it can be estimated, treated and owned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22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Quantifying makes trade-offs explicit: which risks exceed what the organization will tolerate?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22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CyberRiskGuardian structures and speeds up the work; people stay accountable for estimates and decisions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2377440"/>
            <a:ext cx="1463040" cy="1554480"/>
          </a:xfrm>
          <a:prstGeom prst="roundRect">
            <a:avLst>
              <a:gd name="adj" fmla="val 7500"/>
            </a:avLst>
          </a:prstGeom>
          <a:solidFill>
            <a:srgbClr val="123A5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02920" y="2377440"/>
            <a:ext cx="1463040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&amp;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crown jewels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920240" y="2788920"/>
            <a:ext cx="256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130552" y="2377440"/>
            <a:ext cx="1463040" cy="1554480"/>
          </a:xfrm>
          <a:prstGeom prst="roundRect">
            <a:avLst>
              <a:gd name="adj" fmla="val 7500"/>
            </a:avLst>
          </a:prstGeom>
          <a:solidFill>
            <a:srgbClr val="0E7C7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30552" y="2377440"/>
            <a:ext cx="1463040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appetite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130552" y="18745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47872" y="2788920"/>
            <a:ext cx="256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3758184" y="2377440"/>
            <a:ext cx="1463040" cy="1554480"/>
          </a:xfrm>
          <a:prstGeom prst="roundRect">
            <a:avLst>
              <a:gd name="adj" fmla="val 7500"/>
            </a:avLst>
          </a:prstGeom>
          <a:solidFill>
            <a:srgbClr val="123A5C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758184" y="2377440"/>
            <a:ext cx="1463040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25–40 candidates (20 in labs)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10 scenarios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58184" y="18745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175504" y="2788920"/>
            <a:ext cx="256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5385816" y="2377440"/>
            <a:ext cx="1463040" cy="1554480"/>
          </a:xfrm>
          <a:prstGeom prst="roundRect">
            <a:avLst>
              <a:gd name="adj" fmla="val 7500"/>
            </a:avLst>
          </a:prstGeom>
          <a:solidFill>
            <a:srgbClr val="0E7C7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385816" y="2377440"/>
            <a:ext cx="1463040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parameters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CVSS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385816" y="18745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803136" y="2788920"/>
            <a:ext cx="256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7013448" y="2377440"/>
            <a:ext cx="1463040" cy="1554480"/>
          </a:xfrm>
          <a:prstGeom prst="roundRect">
            <a:avLst>
              <a:gd name="adj" fmla="val 7500"/>
            </a:avLst>
          </a:prstGeom>
          <a:solidFill>
            <a:srgbClr val="123A5C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013448" y="2377440"/>
            <a:ext cx="1463040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vs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tolerated risk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013448" y="18745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30768" y="2788920"/>
            <a:ext cx="256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23" name="Shape 21"/>
          <p:cNvSpPr/>
          <p:nvPr/>
        </p:nvSpPr>
        <p:spPr>
          <a:xfrm>
            <a:off x="8641080" y="2377440"/>
            <a:ext cx="1463040" cy="1554480"/>
          </a:xfrm>
          <a:prstGeom prst="roundRect">
            <a:avLst>
              <a:gd name="adj" fmla="val 7500"/>
            </a:avLst>
          </a:prstGeom>
          <a:solidFill>
            <a:srgbClr val="0E7C7B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641080" y="2377440"/>
            <a:ext cx="1463040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&amp;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risk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641080" y="18745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058400" y="2788920"/>
            <a:ext cx="256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27" name="Shape 25"/>
          <p:cNvSpPr/>
          <p:nvPr/>
        </p:nvSpPr>
        <p:spPr>
          <a:xfrm>
            <a:off x="10268712" y="2377440"/>
            <a:ext cx="1463040" cy="1554480"/>
          </a:xfrm>
          <a:prstGeom prst="roundRect">
            <a:avLst>
              <a:gd name="adj" fmla="val 7500"/>
            </a:avLst>
          </a:prstGeom>
          <a:solidFill>
            <a:srgbClr val="123A5C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268712" y="2377440"/>
            <a:ext cx="1463040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Memo, budget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KRIs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268712" y="18745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scenario is a causal chain, not a threat name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194560" cy="914400"/>
          </a:xfrm>
          <a:prstGeom prst="chevron">
            <a:avLst/>
          </a:prstGeom>
          <a:solidFill>
            <a:srgbClr val="123A5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77240" y="155448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source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816352" y="1554480"/>
            <a:ext cx="2194560" cy="914400"/>
          </a:xfrm>
          <a:prstGeom prst="chevron">
            <a:avLst/>
          </a:prstGeom>
          <a:solidFill>
            <a:srgbClr val="1F5A8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044952" y="155448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84064" y="1554480"/>
            <a:ext cx="2194560" cy="914400"/>
          </a:xfrm>
          <a:prstGeom prst="chevron">
            <a:avLst/>
          </a:prstGeom>
          <a:solidFill>
            <a:srgbClr val="0E7C7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312664" y="155448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/ process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51776" y="1554480"/>
            <a:ext cx="2194560" cy="914400"/>
          </a:xfrm>
          <a:prstGeom prst="chevron">
            <a:avLst/>
          </a:prstGeom>
          <a:solidFill>
            <a:srgbClr val="2D8E8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580376" y="155448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619488" y="1554480"/>
            <a:ext cx="2194560" cy="914400"/>
          </a:xfrm>
          <a:prstGeom prst="chevron">
            <a:avLst/>
          </a:prstGeom>
          <a:solidFill>
            <a:srgbClr val="C77D12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848088" y="155448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29260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2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“Ransomware” is a threat.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31520" y="3657600"/>
            <a:ext cx="10789920" cy="210312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14400" y="3749040"/>
            <a:ext cx="10424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ransomware affiliate uses stolen VPN credentials and the absence of MFA on remote access to encrypt the clinical scheduling servers, stopping appointments at all sites for several days.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parameters, each from 0 to 1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743200"/>
                <a:gridCol w="667512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Pb(A)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Threat presence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Will the threat act in the next 12 months?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Pb(ψ,A)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Exploitation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it acts, will it get through this weakness?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damage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Harm reasonably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Maximum damage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Harm plausible at worst (δm ≥ δe)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Resilience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Prevent, detect, contain, respond, recover (higher is better; never 0)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μ(E)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Importance of the affected service to the mission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formulas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1554480"/>
            <a:ext cx="10515600" cy="3108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600"/>
              </a:spcAft>
              <a:buNone/>
            </a:pPr>
            <a:r>
              <a:rPr lang="en-US" sz="1500" dirty="0">
                <a:solidFill>
                  <a:srgbClr val="12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Estimated risk  Re = Pb(A) × Pb(ψ,A) × CVSS × ((δe + δm) / 2) × μ(E) ÷ θ × Factor</a:t>
            </a:r>
            <a:endParaRPr lang="en-US" sz="15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500" dirty="0">
                <a:solidFill>
                  <a:srgbClr val="12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Tolerated risk  Rt = Pb(A) × Pb(ψ,A) × CVSS × Appetite × μ(E) ÷ θ × Factor</a:t>
            </a:r>
            <a:endParaRPr lang="en-US" sz="15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500" dirty="0">
                <a:solidFill>
                  <a:srgbClr val="12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Mitigated = Re × Probability reduction × Impact reduction</a:t>
            </a:r>
            <a:endParaRPr lang="en-US" sz="15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500" dirty="0">
                <a:solidFill>
                  <a:srgbClr val="12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Residual  = Re − Mitigated          Ratio = Residual ÷ Tolerated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502920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are relative indicators for ranking and comparison — not dollars, not predictions.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— MediBec S1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compromise of clinical administrators through phishing and MFA fatigue</a:t>
            </a:r>
            <a:endParaRPr lang="en-US" sz="1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4206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Pb(A)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Pb(ψ,A)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δe / δm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 / 0.85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μ(E)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CVSS v4.0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3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Appetite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F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394960" y="1783080"/>
            <a:ext cx="2926080" cy="1554480"/>
          </a:xfrm>
          <a:prstGeom prst="roundRect">
            <a:avLst>
              <a:gd name="adj" fmla="val 5882"/>
            </a:avLst>
          </a:prstGeom>
          <a:solidFill>
            <a:srgbClr val="123A5C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394960" y="1783080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6,467
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8503920" y="1783080"/>
            <a:ext cx="2926080" cy="1554480"/>
          </a:xfrm>
          <a:prstGeom prst="roundRect">
            <a:avLst>
              <a:gd name="adj" fmla="val 5882"/>
            </a:avLst>
          </a:prstGeom>
          <a:solidFill>
            <a:srgbClr val="123A5C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503920" y="1783080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2,772
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Tolerated</a:t>
            </a:r>
            <a:endParaRPr lang="en-US" sz="3600" dirty="0"/>
          </a:p>
        </p:txBody>
      </p:sp>
      <p:sp>
        <p:nvSpPr>
          <p:cNvPr id="9" name="Shape 6"/>
          <p:cNvSpPr/>
          <p:nvPr/>
        </p:nvSpPr>
        <p:spPr>
          <a:xfrm>
            <a:off x="5394960" y="3520440"/>
            <a:ext cx="2926080" cy="1554480"/>
          </a:xfrm>
          <a:prstGeom prst="roundRect">
            <a:avLst>
              <a:gd name="adj" fmla="val 5882"/>
            </a:avLst>
          </a:prstGeom>
          <a:solidFill>
            <a:srgbClr val="123A5C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394960" y="3520440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2,587
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Residual*</a:t>
            </a:r>
            <a:endParaRPr lang="en-US" sz="3600" dirty="0"/>
          </a:p>
        </p:txBody>
      </p:sp>
      <p:sp>
        <p:nvSpPr>
          <p:cNvPr id="11" name="Shape 8"/>
          <p:cNvSpPr/>
          <p:nvPr/>
        </p:nvSpPr>
        <p:spPr>
          <a:xfrm>
            <a:off x="8503920" y="3520440"/>
            <a:ext cx="2926080" cy="1554480"/>
          </a:xfrm>
          <a:prstGeom prst="roundRect">
            <a:avLst>
              <a:gd name="adj" fmla="val 5882"/>
            </a:avLst>
          </a:prstGeom>
          <a:solidFill>
            <a:srgbClr val="C77D12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503920" y="3520440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
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</a:t>
            </a:r>
            <a:endParaRPr lang="en-US" sz="3600" dirty="0"/>
          </a:p>
        </p:txBody>
      </p:sp>
      <p:sp>
        <p:nvSpPr>
          <p:cNvPr id="13" name="Text 10"/>
          <p:cNvSpPr/>
          <p:nvPr/>
        </p:nvSpPr>
        <p:spPr>
          <a:xfrm>
            <a:off x="640080" y="55778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*after a package with probability reduction 0.80 and impact reduction 0.75 → approximately at tolerance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ratio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474720" cy="1280160"/>
          </a:xfrm>
          <a:prstGeom prst="rect">
            <a:avLst/>
          </a:prstGeom>
          <a:solidFill>
            <a:srgbClr val="2E7D4F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46304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0.90
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tolerance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297680" y="1463040"/>
            <a:ext cx="3474720" cy="1280160"/>
          </a:xfrm>
          <a:prstGeom prst="rect">
            <a:avLst/>
          </a:prstGeom>
          <a:solidFill>
            <a:srgbClr val="C77D12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297680" y="146304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 – 1.10
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Approximately at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955280" y="1463040"/>
            <a:ext cx="3474720" cy="1280160"/>
          </a:xfrm>
          <a:prstGeom prst="rect">
            <a:avLst/>
          </a:prstGeom>
          <a:solidFill>
            <a:srgbClr val="B23A3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955280" y="146304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1.10
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tolerance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depends only on damage, treatment and appetite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3749040"/>
            <a:ext cx="108813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÷ Tolerated = ((δe + δm) / 2) × (1 − P × Q) ÷ Appetite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Probabilities, CVSS, θ and μ(E) cancel: they set the size of the risk (ranking), not the verdict. Read the ratio together with estimated risk.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 multiplicative, and counted once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20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probability reduction × 80% impact reduction removes 64% of the risk — not 80%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20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package that reduces only probability, or only impact, mitigates nothing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20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tolerance requires P × Q ≥ 1 − Appetite ÷ average damage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20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control (e.g. MFA serving seven scenarios) is split for scenario analysis and counted once in the portfolio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20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 the organization already has cannot be claimed again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markers on every deliverable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37160" cy="1005840"/>
          </a:xfrm>
          <a:prstGeom prst="rect">
            <a:avLst/>
          </a:prstGeom>
          <a:solidFill>
            <a:srgbClr val="C77D1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914400" y="146304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estimate — validation required
</a:t>
            </a:r>
            <a:pPr indent="0" marL="0">
              <a:buNone/>
            </a:pPr>
            <a:r>
              <a:rPr lang="en-US" sz="16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value you (or the AI) estimated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137160" cy="1005840"/>
          </a:xfrm>
          <a:prstGeom prst="rect">
            <a:avLst/>
          </a:prstGeom>
          <a:solidFill>
            <a:srgbClr val="B23A3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269748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gap — organizational validation required
</a:t>
            </a:r>
            <a:pPr indent="0" marL="0">
              <a:buNone/>
            </a:pPr>
            <a:r>
              <a:rPr lang="en-US" sz="16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fact nobody has supplied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3931920"/>
            <a:ext cx="137160" cy="1005840"/>
          </a:xfrm>
          <a:prstGeom prst="rect">
            <a:avLst/>
          </a:prstGeom>
          <a:solidFill>
            <a:srgbClr val="123A5C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393192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decision required
</a:t>
            </a:r>
            <a:pPr indent="0" marL="0">
              <a:buNone/>
            </a:pPr>
            <a:r>
              <a:rPr lang="en-US" sz="16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choice only management can make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5303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them well is the clearest sign that a student separates evidence, inference and judgement.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CVSS: what it does and does not measure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20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the technical severity of one defined vulnerability (CVSS v4.0 Base, 0–10)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20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CRG as a multiplier — never as the risk itself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20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it with a calculator; keep the full vector string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20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phishing, insider, fraud or governance scenarios: score a representative weakness and label it “limited applicability”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" y="5212080"/>
            <a:ext cx="10881360" cy="73152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5212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2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MediBec S1 · CVSS:4.0/AV:N/AC:L/AT:N/PR:N/UI:A/VC:H/VI:H/VA:N/SC:H/SI:L/SA:L → 9.3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AI: it proposes, the engine calculates, you decide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474720" cy="731520"/>
          </a:xfrm>
          <a:prstGeom prst="rect">
            <a:avLst/>
          </a:prstGeom>
          <a:solidFill>
            <a:srgbClr val="123A5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46304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3474720" cy="274320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33172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scenarios · propose values with rationales · critique estimates · suggest controls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297680" y="1463040"/>
            <a:ext cx="3474720" cy="73152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297680" y="146304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may not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297680" y="2194560"/>
            <a:ext cx="3474720" cy="274320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480560" y="233172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case facts the case does not contain · produce final numbers · invent standards, laws, identifiers or sources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955280" y="1463040"/>
            <a:ext cx="3474720" cy="731520"/>
          </a:xfrm>
          <a:prstGeom prst="rect">
            <a:avLst/>
          </a:prstGeom>
          <a:solidFill>
            <a:srgbClr val="C77D12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955280" y="146304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955280" y="2194560"/>
            <a:ext cx="3474720" cy="274320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138160" y="233172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every claim · recompute with the engine · protect data · acknowledge AI use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use CyberRiskGuardian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474720" cy="731520"/>
          </a:xfrm>
          <a:prstGeom prst="rect">
            <a:avLst/>
          </a:prstGeom>
          <a:solidFill>
            <a:srgbClr val="123A5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46304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3474720" cy="274320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33172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or project: context intake, 25–40 (20 in labs) → 10 scenarios, /crg-quick-scan, verified calculator, label checks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297680" y="1463040"/>
            <a:ext cx="3474720" cy="73152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297680" y="146304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app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297680" y="2194560"/>
            <a:ext cx="3474720" cy="274320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480560" y="233172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locally in the browser: classroom workspaces, engine self-check, simulation data, EN/FR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955280" y="1463040"/>
            <a:ext cx="3474720" cy="731520"/>
          </a:xfrm>
          <a:prstGeom prst="rect">
            <a:avLst/>
          </a:prstGeom>
          <a:solidFill>
            <a:srgbClr val="C77D12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955280" y="146304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model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955280" y="2194560"/>
            <a:ext cx="3474720" cy="274320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138160" y="233172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Analyse, S1–S10, M1–M10 sheets: transparent formulas; press F9 to recalculate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twelve labs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474720" cy="822960"/>
          </a:xfrm>
          <a:prstGeom prst="rect">
            <a:avLst/>
          </a:prstGeom>
          <a:solidFill>
            <a:srgbClr val="EEF3F7"/>
          </a:solidFill>
          <a:ln w="9525">
            <a:solidFill>
              <a:srgbClr val="C8D2D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77240" y="13716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Getting started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297680" y="1371600"/>
            <a:ext cx="3474720" cy="822960"/>
          </a:xfrm>
          <a:prstGeom prst="rect">
            <a:avLst/>
          </a:prstGeom>
          <a:solidFill>
            <a:srgbClr val="EEF3F7"/>
          </a:solidFill>
          <a:ln w="9525">
            <a:solidFill>
              <a:srgbClr val="C8D2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434840" y="13716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Context &amp; crown jewels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955280" y="1371600"/>
            <a:ext cx="3474720" cy="822960"/>
          </a:xfrm>
          <a:prstGeom prst="rect">
            <a:avLst/>
          </a:prstGeom>
          <a:solidFill>
            <a:srgbClr val="EEF3F7"/>
          </a:solidFill>
          <a:ln w="9525">
            <a:solidFill>
              <a:srgbClr val="C8D2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092440" y="13716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Risk appetite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2377440"/>
            <a:ext cx="3474720" cy="822960"/>
          </a:xfrm>
          <a:prstGeom prst="rect">
            <a:avLst/>
          </a:prstGeom>
          <a:solidFill>
            <a:srgbClr val="EEF3F7"/>
          </a:solidFill>
          <a:ln w="9525">
            <a:solidFill>
              <a:srgbClr val="C8D2D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23774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Writing scenarios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297680" y="2377440"/>
            <a:ext cx="3474720" cy="822960"/>
          </a:xfrm>
          <a:prstGeom prst="rect">
            <a:avLst/>
          </a:prstGeom>
          <a:solidFill>
            <a:srgbClr val="EEF3F7"/>
          </a:solidFill>
          <a:ln w="9525">
            <a:solidFill>
              <a:srgbClr val="C8D2D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34840" y="23774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Quantifying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955280" y="2377440"/>
            <a:ext cx="3474720" cy="822960"/>
          </a:xfrm>
          <a:prstGeom prst="rect">
            <a:avLst/>
          </a:prstGeom>
          <a:solidFill>
            <a:srgbClr val="EEF3F7"/>
          </a:solidFill>
          <a:ln w="9525">
            <a:solidFill>
              <a:srgbClr val="C8D2D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092440" y="23774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CVSS v4.0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40080" y="3383280"/>
            <a:ext cx="3474720" cy="822960"/>
          </a:xfrm>
          <a:prstGeom prst="rect">
            <a:avLst/>
          </a:prstGeom>
          <a:solidFill>
            <a:srgbClr val="EEF3F7"/>
          </a:solidFill>
          <a:ln w="9525">
            <a:solidFill>
              <a:srgbClr val="C8D2DB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77240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Calculating risk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297680" y="3383280"/>
            <a:ext cx="3474720" cy="822960"/>
          </a:xfrm>
          <a:prstGeom prst="rect">
            <a:avLst/>
          </a:prstGeom>
          <a:solidFill>
            <a:srgbClr val="EEF3F7"/>
          </a:solidFill>
          <a:ln w="9525">
            <a:solidFill>
              <a:srgbClr val="C8D2D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34840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Treatment &amp; residual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955280" y="3383280"/>
            <a:ext cx="3474720" cy="822960"/>
          </a:xfrm>
          <a:prstGeom prst="rect">
            <a:avLst/>
          </a:prstGeom>
          <a:solidFill>
            <a:srgbClr val="EEF3F7"/>
          </a:solidFill>
          <a:ln w="9525">
            <a:solidFill>
              <a:srgbClr val="C8D2D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092440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Sensitivity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40080" y="4389120"/>
            <a:ext cx="3474720" cy="822960"/>
          </a:xfrm>
          <a:prstGeom prst="rect">
            <a:avLst/>
          </a:prstGeom>
          <a:solidFill>
            <a:srgbClr val="EEF3F7"/>
          </a:solidFill>
          <a:ln w="9525">
            <a:solidFill>
              <a:srgbClr val="C8D2DB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77240" y="43891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KRIs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4297680" y="4389120"/>
            <a:ext cx="3474720" cy="822960"/>
          </a:xfrm>
          <a:prstGeom prst="rect">
            <a:avLst/>
          </a:prstGeom>
          <a:solidFill>
            <a:srgbClr val="EEF3F7"/>
          </a:solidFill>
          <a:ln w="9525">
            <a:solidFill>
              <a:srgbClr val="C8D2DB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434840" y="43891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Management memo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955280" y="4389120"/>
            <a:ext cx="3474720" cy="822960"/>
          </a:xfrm>
          <a:prstGeom prst="rect">
            <a:avLst/>
          </a:prstGeom>
          <a:solidFill>
            <a:srgbClr val="DCE6EE"/>
          </a:solidFill>
          <a:ln w="9525">
            <a:solidFill>
              <a:srgbClr val="C8D2D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092440" y="43891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Security operations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640080" y="5394960"/>
            <a:ext cx="3474720" cy="822960"/>
          </a:xfrm>
          <a:prstGeom prst="rect">
            <a:avLst/>
          </a:prstGeom>
          <a:solidFill>
            <a:srgbClr val="DCE6EE"/>
          </a:solidFill>
          <a:ln w="9525">
            <a:solidFill>
              <a:srgbClr val="C8D2DB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777240" y="53949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Risk → policy &amp; audit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will deliver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474720" cy="731520"/>
          </a:xfrm>
          <a:prstGeom prst="rect">
            <a:avLst/>
          </a:prstGeom>
          <a:solidFill>
            <a:srgbClr val="123A5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46304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Risk assessment (team)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3474720" cy="274320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33172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scenario S1 + nine more · workbook · 1-page memo · 2-page recommendation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297680" y="1463040"/>
            <a:ext cx="3474720" cy="73152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297680" y="146304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· IAM security policy (team)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297680" y="2194560"/>
            <a:ext cx="3474720" cy="274320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480560" y="233172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testable, executive-ready policy anchored in your A1 results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955280" y="1463040"/>
            <a:ext cx="3474720" cy="731520"/>
          </a:xfrm>
          <a:prstGeom prst="rect">
            <a:avLst/>
          </a:prstGeom>
          <a:solidFill>
            <a:srgbClr val="C77D12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955280" y="146304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· Risk-based audit plan (individual)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955280" y="2194560"/>
            <a:ext cx="3474720" cy="274320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138160" y="233172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universe, risk ranking, engagement plan, control tests and CAATTs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start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07899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21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your track, then verify the engine:</a:t>
            </a:r>
            <a:endParaRPr lang="en-US" sz="2100" dirty="0"/>
          </a:p>
          <a:p>
            <a:pPr lvl="1" indent="0" marL="0">
              <a:spcAft>
                <a:spcPts val="1400"/>
              </a:spcAft>
              <a:buNone/>
            </a:pPr>
            <a:r>
              <a:rPr lang="en-US" sz="2100" b="1" dirty="0">
                <a:solidFill>
                  <a:srgbClr val="2E7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“engine verified · 84,305 / 41,023”</a:t>
            </a:r>
            <a:endParaRPr lang="en-US" sz="21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21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use MediBec — a fictional private medical centre with ten clinics</a:t>
            </a:r>
            <a:endParaRPr lang="en-US" sz="21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21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graded work uses a different case</a:t>
            </a:r>
            <a:endParaRPr lang="en-US" sz="21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2100" dirty="0">
                <a:solidFill>
                  <a:srgbClr val="1F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are hypotheses to validate; risk decisions belong to management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539496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2026-10-21T10:56:14Z</dcterms:created>
  <dcterms:modified xsi:type="dcterms:W3CDTF">2026-10-21T10:56:14Z</dcterms:modified>
</cp:coreProperties>
</file>