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Présentez CRG comme un outil d’aide à la décision : il accélère et structure l’analyse; l’analyste et la direction demeurent responsables.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Demandez : que peut faire la direction avec le mot « rançongiciel »? Comparez avec un scénario qui nomme un actif et une conséquence.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Parcourez les sept étapes. L’application de bureau les présente en treize étapes de processus, chacune avec son statut.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Faites repérer chaque maillon de l’exemple, puis réécrire « fuite de données » sous forme de chaîne.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Insistez sur les deux probabilités : présence et exploitation. Les fusionner compte deux fois la même incertitude. θ est une capacité démontrée, pas une liste d’outils.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facteur ne fait que mettre à l’échelle; il ne change jamais un ratio. Les résultats sont des indicateurs relatifs.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Valeurs publiées de MediBec. Faites recalculer Re à la main : 0,85 × 0,55 × 9,3 × 0,70 × 0,85 ÷ 0,40 × 1 000 ≈ 6 467.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résultat surprenant. Ratio avant traitement = dommage moyen ÷ appétence = 0,70 ÷ 0,30 = 2,33 pour S1.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Demandez : quel contrôle de votre plan interrompt quel maillon de la chaîne? Mettez en garde contre l’accumulation de contrôles.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Montrez où les mentions apparaissent dans les livrables MediBec. Le plugiciel Claude signale les mentions manquantes.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Passez UI de Active à None : le score passe de 9,3 à 9,9. Discutez pourquoi.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Énoncez la politique du cours : IA permise dans les travaux avec déclaration, interdite pendant l’examen.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Indiquez l’outil retenu pour ce cours et où l’obtenir.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laboratoires 11 et 12 sont facultatifs ou de fin de session selon le modèle d’intégration.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Expliquez comment l’A1 alimente l’A2 et l’A3 : une même organisation, du risque à la gouvernance et à l’assurance.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laboratoire 0 commence maintenant : chacun vérifie le moteur et envoie une capture d’écran.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pédagogique CyberRiskGuardian 1.0 · CC BY-NC 4.0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12188952" cy="7315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1887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FD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CyberRiskGuardian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 le risque de cybersécurité avec CyberRiskGuardian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5661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cours d’introduction · Ensemble pédagogique 1.0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5120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Marc-André Léger, Ph. D. · octobre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une évaluation fondée sur des scénarios?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200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direction décide avec de l’argent, du temps et des personnes — pas avec des noms de menaces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200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scénario relie une menace à une conséquence d’affaires : on peut l’estimer, le traiter et lui attribuer un responsable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200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Quantifier rend les arbitrages explicites : quels risques dépassent ce que l’organisation tolère?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200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CyberRiskGuardian structure et accélère le travail; les personnes restent responsables des estimations et des décisions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démarche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2377440"/>
            <a:ext cx="1463040" cy="1554480"/>
          </a:xfrm>
          <a:prstGeom prst="roundRect">
            <a:avLst>
              <a:gd name="adj" fmla="val 7500"/>
            </a:avLst>
          </a:prstGeom>
          <a:solidFill>
            <a:srgbClr val="123A5C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377440"/>
            <a:ext cx="146304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et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joyaux de la couronne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920240" y="278892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130552" y="2377440"/>
            <a:ext cx="1463040" cy="1554480"/>
          </a:xfrm>
          <a:prstGeom prst="roundRect">
            <a:avLst>
              <a:gd name="adj" fmla="val 7500"/>
            </a:avLst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2130552" y="2377440"/>
            <a:ext cx="146304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Appétence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 risque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30552" y="18745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547872" y="278892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3758184" y="2377440"/>
            <a:ext cx="1463040" cy="1554480"/>
          </a:xfrm>
          <a:prstGeom prst="roundRect">
            <a:avLst>
              <a:gd name="adj" fmla="val 7500"/>
            </a:avLst>
          </a:prstGeom>
          <a:solidFill>
            <a:srgbClr val="12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3758184" y="2377440"/>
            <a:ext cx="146304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candidats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10 scénarios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58184" y="18745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75504" y="278892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5385816" y="2377440"/>
            <a:ext cx="1463040" cy="1554480"/>
          </a:xfrm>
          <a:prstGeom prst="roundRect">
            <a:avLst>
              <a:gd name="adj" fmla="val 7500"/>
            </a:avLst>
          </a:prstGeom>
          <a:solidFill>
            <a:srgbClr val="0E7C7B"/>
          </a:solidFill>
          <a:ln/>
        </p:spPr>
      </p:sp>
      <p:sp>
        <p:nvSpPr>
          <p:cNvPr id="16" name="Text 14"/>
          <p:cNvSpPr/>
          <p:nvPr/>
        </p:nvSpPr>
        <p:spPr>
          <a:xfrm>
            <a:off x="5385816" y="2377440"/>
            <a:ext cx="146304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paramètres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CVSS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85816" y="18745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03136" y="278892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7013448" y="2377440"/>
            <a:ext cx="1463040" cy="1554480"/>
          </a:xfrm>
          <a:prstGeom prst="roundRect">
            <a:avLst>
              <a:gd name="adj" fmla="val 7500"/>
            </a:avLst>
          </a:prstGeom>
          <a:solidFill>
            <a:srgbClr val="12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7013448" y="2377440"/>
            <a:ext cx="146304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estimé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toléré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13448" y="18745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30768" y="278892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8641080" y="2377440"/>
            <a:ext cx="1463040" cy="1554480"/>
          </a:xfrm>
          <a:prstGeom prst="roundRect">
            <a:avLst>
              <a:gd name="adj" fmla="val 7500"/>
            </a:avLst>
          </a:prstGeom>
          <a:solidFill>
            <a:srgbClr val="0E7C7B"/>
          </a:solidFill>
          <a:ln/>
        </p:spPr>
      </p:sp>
      <p:sp>
        <p:nvSpPr>
          <p:cNvPr id="24" name="Text 22"/>
          <p:cNvSpPr/>
          <p:nvPr/>
        </p:nvSpPr>
        <p:spPr>
          <a:xfrm>
            <a:off x="8641080" y="2377440"/>
            <a:ext cx="146304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et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résiduel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641080" y="18745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058400" y="278892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27" name="Shape 25"/>
          <p:cNvSpPr/>
          <p:nvPr/>
        </p:nvSpPr>
        <p:spPr>
          <a:xfrm>
            <a:off x="10268712" y="2377440"/>
            <a:ext cx="1463040" cy="1554480"/>
          </a:xfrm>
          <a:prstGeom prst="roundRect">
            <a:avLst>
              <a:gd name="adj" fmla="val 7500"/>
            </a:avLst>
          </a:prstGeom>
          <a:solidFill>
            <a:srgbClr val="12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10268712" y="2377440"/>
            <a:ext cx="146304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Note, budget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ICR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268712" y="18745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scénario est une chaîne causale, pas un nom de menace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194560" cy="914400"/>
          </a:xfrm>
          <a:prstGeom prst="chevron">
            <a:avLst/>
          </a:prstGeom>
          <a:solidFill>
            <a:srgbClr val="123A5C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5544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de menace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16352" y="1554480"/>
            <a:ext cx="2194560" cy="914400"/>
          </a:xfrm>
          <a:prstGeom prst="chevron">
            <a:avLst/>
          </a:prstGeom>
          <a:solidFill>
            <a:srgbClr val="1F5A80"/>
          </a:solidFill>
          <a:ln/>
        </p:spPr>
      </p:sp>
      <p:sp>
        <p:nvSpPr>
          <p:cNvPr id="6" name="Text 4"/>
          <p:cNvSpPr/>
          <p:nvPr/>
        </p:nvSpPr>
        <p:spPr>
          <a:xfrm>
            <a:off x="3044952" y="15544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Faiblesse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84064" y="1554480"/>
            <a:ext cx="2194560" cy="914400"/>
          </a:xfrm>
          <a:prstGeom prst="chevron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5312664" y="15544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 / processus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51776" y="1554480"/>
            <a:ext cx="2194560" cy="914400"/>
          </a:xfrm>
          <a:prstGeom prst="chevron">
            <a:avLst/>
          </a:prstGeom>
          <a:solidFill>
            <a:srgbClr val="2D8E8C"/>
          </a:solidFill>
          <a:ln/>
        </p:spPr>
      </p:sp>
      <p:sp>
        <p:nvSpPr>
          <p:cNvPr id="10" name="Text 8"/>
          <p:cNvSpPr/>
          <p:nvPr/>
        </p:nvSpPr>
        <p:spPr>
          <a:xfrm>
            <a:off x="7580376" y="15544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619488" y="1554480"/>
            <a:ext cx="2194560" cy="914400"/>
          </a:xfrm>
          <a:prstGeom prst="chevron">
            <a:avLst/>
          </a:prstGeom>
          <a:solidFill>
            <a:srgbClr val="C77D12"/>
          </a:solidFill>
          <a:ln/>
        </p:spPr>
      </p:sp>
      <p:sp>
        <p:nvSpPr>
          <p:cNvPr id="12" name="Text 10"/>
          <p:cNvSpPr/>
          <p:nvPr/>
        </p:nvSpPr>
        <p:spPr>
          <a:xfrm>
            <a:off x="9848088" y="15544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Conséquence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29260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Rançongiciel » est une menace.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31520" y="3657600"/>
            <a:ext cx="10789920" cy="2103120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749040"/>
            <a:ext cx="10424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affilié de rançongiciel utilise des identifiants RPV volés et l’absence d’AMF sur l’accès à distance pour chiffrer les serveurs de prise de rendez-vous cliniques, ce qui interrompt les rendez-vous dans toutes les cliniques pendant plusieurs jours.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paramètres, chacun de 0 à 1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743200"/>
                <a:gridCol w="667512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Paramètre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2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Pb(A)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Présence de la menace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menace agira-t-elle au cours des 12 prochains mois?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2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Pb(ψ,A)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Exploitation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elle agit, franchira-t-elle cette faiblesse?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2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Dommage estimé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Préjudice raisonnablement attendu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2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Dommage maximal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Préjudice plausible au pire (δm ≥ δe)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2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Résilience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Prévenir, détecter, contenir, intervenir, rétablir (plus élevé = mieux; jamais 0)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2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μ(E)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Criticité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Importance du service touché pour la mission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formules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554480"/>
            <a:ext cx="10515600" cy="3108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spcAft>
                <a:spcPts val="1600"/>
              </a:spcAft>
              <a:buNone/>
            </a:pPr>
            <a:r>
              <a:rPr lang="en-US" sz="1500" dirty="0">
                <a:solidFill>
                  <a:srgbClr val="12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Risque estimé  Re = Pb(A) × Pb(ψ,A) × CVSS × ((δe + δm) / 2) × μ(E) ÷ θ × Facteur</a:t>
            </a:r>
            <a:endParaRPr lang="en-US" sz="15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500" dirty="0">
                <a:solidFill>
                  <a:srgbClr val="12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Risque toléré  Rt = Pb(A) × Pb(ψ,A) × CVSS × Appétence × μ(E) ÷ θ × Facteur</a:t>
            </a:r>
            <a:endParaRPr lang="en-US" sz="15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500" dirty="0">
                <a:solidFill>
                  <a:srgbClr val="12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Atténué = Re × Réduction de probabilité × Réduction d’impact</a:t>
            </a:r>
            <a:endParaRPr lang="en-US" sz="15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500" dirty="0">
                <a:solidFill>
                  <a:srgbClr val="12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Résiduel = Re − Atténué          Ratio = Résiduel ÷ Toléré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5029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scores sont des indicateurs relatifs pour classer et comparer — ni des dollars, ni des prédictions.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résolu — MediBec S1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Compromission des identifiants d’administrateurs cliniques par hameçonnage et fatigue AMF</a:t>
            </a:r>
            <a:endParaRPr lang="en-US" sz="1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4206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2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Pb(A)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2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Pb(ψ,A)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2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δe / δm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0,55 / 0,85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2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2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μ(E)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2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CVSS v4.0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2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Appétence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394960" y="1783080"/>
            <a:ext cx="2926080" cy="1554480"/>
          </a:xfrm>
          <a:prstGeom prst="roundRect">
            <a:avLst>
              <a:gd name="adj" fmla="val 5882"/>
            </a:avLst>
          </a:prstGeom>
          <a:solidFill>
            <a:srgbClr val="123A5C"/>
          </a:solidFill>
          <a:ln/>
        </p:spPr>
      </p:sp>
      <p:sp>
        <p:nvSpPr>
          <p:cNvPr id="6" name="Text 3"/>
          <p:cNvSpPr/>
          <p:nvPr/>
        </p:nvSpPr>
        <p:spPr>
          <a:xfrm>
            <a:off x="5394960" y="178308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6 467
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Estimé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8503920" y="1783080"/>
            <a:ext cx="2926080" cy="1554480"/>
          </a:xfrm>
          <a:prstGeom prst="roundRect">
            <a:avLst>
              <a:gd name="adj" fmla="val 5882"/>
            </a:avLst>
          </a:prstGeom>
          <a:solidFill>
            <a:srgbClr val="123A5C"/>
          </a:solidFill>
          <a:ln/>
        </p:spPr>
      </p:sp>
      <p:sp>
        <p:nvSpPr>
          <p:cNvPr id="8" name="Text 5"/>
          <p:cNvSpPr/>
          <p:nvPr/>
        </p:nvSpPr>
        <p:spPr>
          <a:xfrm>
            <a:off x="8503920" y="178308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2 772
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Toléré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5394960" y="3520440"/>
            <a:ext cx="2926080" cy="1554480"/>
          </a:xfrm>
          <a:prstGeom prst="roundRect">
            <a:avLst>
              <a:gd name="adj" fmla="val 5882"/>
            </a:avLst>
          </a:prstGeom>
          <a:solidFill>
            <a:srgbClr val="123A5C"/>
          </a:solidFill>
          <a:ln/>
        </p:spPr>
      </p:sp>
      <p:sp>
        <p:nvSpPr>
          <p:cNvPr id="10" name="Text 7"/>
          <p:cNvSpPr/>
          <p:nvPr/>
        </p:nvSpPr>
        <p:spPr>
          <a:xfrm>
            <a:off x="5394960" y="352044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2 587
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Résiduel*</a:t>
            </a:r>
            <a:endParaRPr lang="en-US" sz="3600" dirty="0"/>
          </a:p>
        </p:txBody>
      </p:sp>
      <p:sp>
        <p:nvSpPr>
          <p:cNvPr id="11" name="Shape 8"/>
          <p:cNvSpPr/>
          <p:nvPr/>
        </p:nvSpPr>
        <p:spPr>
          <a:xfrm>
            <a:off x="8503920" y="3520440"/>
            <a:ext cx="2926080" cy="1554480"/>
          </a:xfrm>
          <a:prstGeom prst="roundRect">
            <a:avLst>
              <a:gd name="adj" fmla="val 5882"/>
            </a:avLst>
          </a:prstGeom>
          <a:solidFill>
            <a:srgbClr val="C77D12"/>
          </a:solidFill>
          <a:ln/>
        </p:spPr>
      </p:sp>
      <p:sp>
        <p:nvSpPr>
          <p:cNvPr id="12" name="Text 9"/>
          <p:cNvSpPr/>
          <p:nvPr/>
        </p:nvSpPr>
        <p:spPr>
          <a:xfrm>
            <a:off x="8503920" y="352044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0,93
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640080" y="55778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*après un ensemble de mesures avec réduction de probabilité 0,80 et réduction d’impact 0,75 → approximativement à la tolérance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le ratio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474720" cy="1280160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0,90
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 la tolérance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297680" y="1463040"/>
            <a:ext cx="3474720" cy="1280160"/>
          </a:xfrm>
          <a:prstGeom prst="rect">
            <a:avLst/>
          </a:prstGeom>
          <a:solidFill>
            <a:srgbClr val="C77D12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0" y="146304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0,90 – 1,10
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Approximativement à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955280" y="1463040"/>
            <a:ext cx="3474720" cy="1280160"/>
          </a:xfrm>
          <a:prstGeom prst="rect">
            <a:avLst/>
          </a:prstGeom>
          <a:solidFill>
            <a:srgbClr val="B23A3A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0" y="146304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1,10
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Au-dessus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verdict ne dépend que du dommage, du traitement et de l’appétence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3749040"/>
            <a:ext cx="10881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Résiduel ÷ Toléré = ((δe + δm) / 2) × (1 − P × Q) ÷ Appétence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probabilités, le CVSS, θ et μ(E) s’annulent : ils fixent la taille du risque (le classement), pas le verdict. Lisez le ratio avec le risque estimé.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: multiplicatif, et compté une seule fois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000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80 % de réduction de probabilité × 80 % de réduction d’impact retirent 64 % du risque — pas 80 %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000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ensemble qui ne réduit que la probabilité, ou que l’impact, n’atténue rien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000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 sous la tolérance exige P × Q ≥ 1 − Appétence ÷ dommage moyen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000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contrôle partagé (p. ex. l’AMF pour sept scénarios) est réparti pour l’analyse par scénario et compté une seule fois dans le portefeuille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000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contrôle que l’organisation possède déjà ne peut pas être réclamé une seconde fois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mentions dans chaque livrable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37160" cy="1005840"/>
          </a:xfrm>
          <a:prstGeom prst="rect">
            <a:avLst/>
          </a:prstGeom>
          <a:solidFill>
            <a:srgbClr val="C77D1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6304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analytique — validation requise
</a:t>
            </a:r>
            <a:pPr indent="0" marL="0">
              <a:buNone/>
            </a:pPr>
            <a:r>
              <a:rPr lang="en-US" sz="16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valeur estimée par vous (ou par l’IA)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137160" cy="1005840"/>
          </a:xfrm>
          <a:prstGeom prst="rect">
            <a:avLst/>
          </a:prstGeom>
          <a:solidFill>
            <a:srgbClr val="B23A3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69748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Lacune d’information — validation organisationnelle requise
</a:t>
            </a:r>
            <a:pPr indent="0" marL="0">
              <a:buNone/>
            </a:pPr>
            <a:r>
              <a:rPr lang="en-US" sz="16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fait que personne n’a fourni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3931920"/>
            <a:ext cx="137160" cy="1005840"/>
          </a:xfrm>
          <a:prstGeom prst="rect">
            <a:avLst/>
          </a:prstGeom>
          <a:solidFill>
            <a:srgbClr val="123A5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93192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de la direction requise
</a:t>
            </a:r>
            <a:pPr indent="0" marL="0">
              <a:buNone/>
            </a:pPr>
            <a:r>
              <a:rPr lang="en-US" sz="16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choix qui revient à la direction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5303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 les utiliser est le signe le plus clair qu’on distingue preuve, inférence et jugement.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 : ce qu’il mesure et ce qu’il ne mesure pas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7899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000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la gravité technique d’une vulnérabilité définie (CVSS v4.0 de base, 0–10)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000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Utilisé dans CRG comme multiplicateur — jamais comme le risque lui-même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000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Calculez-le avec un calculateur; conservez le vecteur complet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000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Hameçonnage, initié, fraude ou gouvernance : notez une faiblesse représentative et indiquez « applicabilité limitée »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5212080"/>
            <a:ext cx="10881360" cy="731520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212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2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MediBec S1 · CVSS:4.0/AV:N/AC:L/AT:N/PR:N/UI:A/VC:H/VI:H/VA:N/SC:H/SI:L/SA:L → 9,3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générative : elle propose, le moteur calcule, vous décidez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474720" cy="731520"/>
          </a:xfrm>
          <a:prstGeom prst="rect">
            <a:avLst/>
          </a:prstGeom>
          <a:solidFill>
            <a:srgbClr val="123A5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L’IA peut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474720" cy="2743200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3172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Rédiger des scénarios · proposer des valeurs justifiées · critiquer les estimations · suggérer des contrôles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3474720" cy="7315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0" y="14630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L’IA ne peut pas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297680" y="2194560"/>
            <a:ext cx="3474720" cy="2743200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233172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Affirmer des faits absents du cas · produire les chiffres finaux · inventer normes, lois, identifiants ou sources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955280" y="1463040"/>
            <a:ext cx="3474720" cy="731520"/>
          </a:xfrm>
          <a:prstGeom prst="rect">
            <a:avLst/>
          </a:prstGeom>
          <a:solidFill>
            <a:srgbClr val="C77D12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0" y="14630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devez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955280" y="2194560"/>
            <a:ext cx="3474720" cy="2743200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233172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chaque affirmation · recalculer avec le moteur · protéger les données · déclarer l’usage de l’IA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façons d’utiliser CyberRiskGuardian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474720" cy="731520"/>
          </a:xfrm>
          <a:prstGeom prst="rect">
            <a:avLst/>
          </a:prstGeom>
          <a:solidFill>
            <a:srgbClr val="123A5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474720" cy="2743200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3172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Plugiciel ou projet : collecte du contexte, scénarios 20→10, /crg-quick-scan, calculateur vérifié, contrôle des mentions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3474720" cy="7315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0" y="14630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 bureau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297680" y="2194560"/>
            <a:ext cx="3474720" cy="2743200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233172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 localement dans le navigateur : espaces de cours, autovérification du moteur, données de simulation, FR/EN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955280" y="1463040"/>
            <a:ext cx="3474720" cy="731520"/>
          </a:xfrm>
          <a:prstGeom prst="rect">
            <a:avLst/>
          </a:prstGeom>
          <a:solidFill>
            <a:srgbClr val="C77D12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0" y="14630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Excel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955280" y="2194560"/>
            <a:ext cx="3474720" cy="2743200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233172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Feuilles Analyse, S1–S10, M1–M10 : formules transparentes; F9 pour recalculer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douze laboratoires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474720" cy="822960"/>
          </a:xfrm>
          <a:prstGeom prst="rect">
            <a:avLst/>
          </a:prstGeom>
          <a:solidFill>
            <a:srgbClr val="EEF3F7"/>
          </a:solidFill>
          <a:ln w="9525">
            <a:solidFill>
              <a:srgbClr val="C8D2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3716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Démarrage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297680" y="1371600"/>
            <a:ext cx="3474720" cy="822960"/>
          </a:xfrm>
          <a:prstGeom prst="rect">
            <a:avLst/>
          </a:prstGeom>
          <a:solidFill>
            <a:srgbClr val="EEF3F7"/>
          </a:solidFill>
          <a:ln w="9525">
            <a:solidFill>
              <a:srgbClr val="C8D2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34840" y="13716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Contexte et joyaux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955280" y="1371600"/>
            <a:ext cx="3474720" cy="822960"/>
          </a:xfrm>
          <a:prstGeom prst="rect">
            <a:avLst/>
          </a:prstGeom>
          <a:solidFill>
            <a:srgbClr val="EEF3F7"/>
          </a:solidFill>
          <a:ln w="9525">
            <a:solidFill>
              <a:srgbClr val="C8D2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92440" y="13716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Appétence pour le risque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2377440"/>
            <a:ext cx="3474720" cy="822960"/>
          </a:xfrm>
          <a:prstGeom prst="rect">
            <a:avLst/>
          </a:prstGeom>
          <a:solidFill>
            <a:srgbClr val="EEF3F7"/>
          </a:solidFill>
          <a:ln w="9525">
            <a:solidFill>
              <a:srgbClr val="C8D2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3774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Rédiger des scénarios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297680" y="2377440"/>
            <a:ext cx="3474720" cy="822960"/>
          </a:xfrm>
          <a:prstGeom prst="rect">
            <a:avLst/>
          </a:prstGeom>
          <a:solidFill>
            <a:srgbClr val="EEF3F7"/>
          </a:solidFill>
          <a:ln w="9525">
            <a:solidFill>
              <a:srgbClr val="C8D2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23774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Quantifier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955280" y="2377440"/>
            <a:ext cx="3474720" cy="822960"/>
          </a:xfrm>
          <a:prstGeom prst="rect">
            <a:avLst/>
          </a:prstGeom>
          <a:solidFill>
            <a:srgbClr val="EEF3F7"/>
          </a:solidFill>
          <a:ln w="9525">
            <a:solidFill>
              <a:srgbClr val="C8D2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2440" y="23774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CVSS v4.0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40080" y="3383280"/>
            <a:ext cx="3474720" cy="822960"/>
          </a:xfrm>
          <a:prstGeom prst="rect">
            <a:avLst/>
          </a:prstGeom>
          <a:solidFill>
            <a:srgbClr val="EEF3F7"/>
          </a:solidFill>
          <a:ln w="9525">
            <a:solidFill>
              <a:srgbClr val="C8D2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3832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Calculer le risque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297680" y="3383280"/>
            <a:ext cx="3474720" cy="822960"/>
          </a:xfrm>
          <a:prstGeom prst="rect">
            <a:avLst/>
          </a:prstGeom>
          <a:solidFill>
            <a:srgbClr val="EEF3F7"/>
          </a:solidFill>
          <a:ln w="9525">
            <a:solidFill>
              <a:srgbClr val="C8D2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840" y="33832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Traitement et résiduel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955280" y="3383280"/>
            <a:ext cx="3474720" cy="822960"/>
          </a:xfrm>
          <a:prstGeom prst="rect">
            <a:avLst/>
          </a:prstGeom>
          <a:solidFill>
            <a:srgbClr val="EEF3F7"/>
          </a:solidFill>
          <a:ln w="9525">
            <a:solidFill>
              <a:srgbClr val="C8D2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92440" y="33832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Sensibilité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40080" y="4389120"/>
            <a:ext cx="3474720" cy="822960"/>
          </a:xfrm>
          <a:prstGeom prst="rect">
            <a:avLst/>
          </a:prstGeom>
          <a:solidFill>
            <a:srgbClr val="EEF3F7"/>
          </a:solidFill>
          <a:ln w="9525">
            <a:solidFill>
              <a:srgbClr val="C8D2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389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ICR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4297680" y="4389120"/>
            <a:ext cx="3474720" cy="822960"/>
          </a:xfrm>
          <a:prstGeom prst="rect">
            <a:avLst/>
          </a:prstGeom>
          <a:solidFill>
            <a:srgbClr val="EEF3F7"/>
          </a:solidFill>
          <a:ln w="9525">
            <a:solidFill>
              <a:srgbClr val="C8D2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34840" y="4389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Note à la direction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7955280" y="4389120"/>
            <a:ext cx="3474720" cy="822960"/>
          </a:xfrm>
          <a:prstGeom prst="rect">
            <a:avLst/>
          </a:prstGeom>
          <a:solidFill>
            <a:srgbClr val="DCE6EE"/>
          </a:solidFill>
          <a:ln w="9525">
            <a:solidFill>
              <a:srgbClr val="C8D2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92440" y="4389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Opérations de sécurité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40080" y="5394960"/>
            <a:ext cx="3474720" cy="822960"/>
          </a:xfrm>
          <a:prstGeom prst="rect">
            <a:avLst/>
          </a:prstGeom>
          <a:solidFill>
            <a:srgbClr val="DCE6EE"/>
          </a:solidFill>
          <a:ln w="9525">
            <a:solidFill>
              <a:srgbClr val="C8D2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53949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Du risque à la politique et à l’audit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remettrez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474720" cy="731520"/>
          </a:xfrm>
          <a:prstGeom prst="rect">
            <a:avLst/>
          </a:prstGeom>
          <a:solidFill>
            <a:srgbClr val="123A5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· Évaluation des risques (équipe)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474720" cy="2743200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3172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original S1 + neuf autres · classeur · note d’une page · recommandation de deux pages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3474720" cy="7315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0" y="14630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Politique GIA (équipe)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297680" y="2194560"/>
            <a:ext cx="3474720" cy="2743200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233172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politique vérifiable, prête pour la direction, ancrée dans vos résultats de l’A1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955280" y="1463040"/>
            <a:ext cx="3474720" cy="731520"/>
          </a:xfrm>
          <a:prstGeom prst="rect">
            <a:avLst/>
          </a:prstGeom>
          <a:solidFill>
            <a:srgbClr val="C77D12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0" y="14630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· Plan d’audit fondé sur les risques (individuel)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955280" y="2194560"/>
            <a:ext cx="3474720" cy="2743200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233172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 d’audit, classement des risques, plan de mission, tests de contrôles et TAAO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de commencer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■"/>
            </a:pPr>
            <a:r>
              <a:rPr lang="en-US" sz="2100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Installez votre outil, puis vérifiez le moteur :</a:t>
            </a:r>
            <a:endParaRPr lang="en-US" sz="2100" dirty="0"/>
          </a:p>
          <a:p>
            <a:pPr lvl="1"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2E7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 moteur vérifié · 84 491 / 41 104 »</a:t>
            </a:r>
            <a:endParaRPr lang="en-US" sz="2100" dirty="0"/>
          </a:p>
          <a:p>
            <a:pPr marL="342900" indent="-342900">
              <a:spcAft>
                <a:spcPts val="1400"/>
              </a:spcAft>
              <a:buSzPct val="100000"/>
              <a:buChar char="■"/>
            </a:pPr>
            <a:r>
              <a:rPr lang="en-US" sz="2100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laboratoires portent sur MediBec — un centre médical privé fictif de dix cliniques</a:t>
            </a:r>
            <a:endParaRPr lang="en-US" sz="2100" dirty="0"/>
          </a:p>
          <a:p>
            <a:pPr marL="342900" indent="-342900">
              <a:spcAft>
                <a:spcPts val="1400"/>
              </a:spcAft>
              <a:buSzPct val="100000"/>
              <a:buChar char="■"/>
            </a:pPr>
            <a:r>
              <a:rPr lang="en-US" sz="2100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travaux notés porteront sur un autre cas</a:t>
            </a:r>
            <a:endParaRPr lang="en-US" sz="2100" dirty="0"/>
          </a:p>
          <a:p>
            <a:pPr marL="342900" indent="-342900">
              <a:spcAft>
                <a:spcPts val="1400"/>
              </a:spcAft>
              <a:buSzPct val="100000"/>
              <a:buChar char="■"/>
            </a:pPr>
            <a:r>
              <a:rPr lang="en-US" sz="2100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estimations sont des hypothèses à valider; les décisions de risque appartiennent à la direction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31520" y="539496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2026-10-21T10:56:14Z</dcterms:created>
  <dcterms:modified xsi:type="dcterms:W3CDTF">2026-10-21T10:56:14Z</dcterms:modified>
</cp:coreProperties>
</file>